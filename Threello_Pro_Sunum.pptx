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1" r:id="rId6"/>
    <p:sldId id="260" r:id="rId7"/>
    <p:sldId id="262" r:id="rId8"/>
    <p:sldId id="263" r:id="rId9"/>
    <p:sldId id="264" r:id="rId10"/>
    <p:sldId id="265" r:id="rId1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0" d="100"/>
          <a:sy n="110" d="100"/>
        </p:scale>
        <p:origin x="658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8325302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200" cy="5143500"/>
          </a:xfrm>
          <a:prstGeom prst="rect">
            <a:avLst/>
          </a:prstGeom>
          <a:solidFill>
            <a:srgbClr val="1A6FC4"/>
          </a:solidFill>
          <a:ln w="12700">
            <a:solidFill>
              <a:srgbClr val="1A6FC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0"/>
            <a:ext cx="109728" cy="51435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114800"/>
            <a:ext cx="9144000" cy="1028700"/>
          </a:xfrm>
          <a:prstGeom prst="rect">
            <a:avLst/>
          </a:prstGeom>
          <a:solidFill>
            <a:srgbClr val="0D2B55"/>
          </a:solidFill>
          <a:ln w="12700">
            <a:solidFill>
              <a:srgbClr val="0D2B5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280160" y="548640"/>
            <a:ext cx="2011680" cy="2011680"/>
          </a:xfrm>
          <a:prstGeom prst="rect">
            <a:avLst/>
          </a:prstGeom>
          <a:solidFill>
            <a:srgbClr val="1A6FC4">
              <a:alpha val="80000"/>
            </a:srgbClr>
          </a:solidFill>
          <a:ln w="25400">
            <a:solidFill>
              <a:srgbClr val="00B4D8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1280160" y="548640"/>
            <a:ext cx="201168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✦ T</a:t>
            </a:r>
            <a:endParaRPr lang="en-US" sz="7200" dirty="0"/>
          </a:p>
        </p:txBody>
      </p:sp>
      <p:sp>
        <p:nvSpPr>
          <p:cNvPr id="7" name="Text 5"/>
          <p:cNvSpPr/>
          <p:nvPr/>
        </p:nvSpPr>
        <p:spPr>
          <a:xfrm>
            <a:off x="3657600" y="640080"/>
            <a:ext cx="5029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kern="0" spc="4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THREELLO PRO</a:t>
            </a:r>
            <a:endParaRPr lang="en-US" sz="4000" dirty="0"/>
          </a:p>
        </p:txBody>
      </p:sp>
      <p:sp>
        <p:nvSpPr>
          <p:cNvPr id="8" name="Text 6"/>
          <p:cNvSpPr/>
          <p:nvPr/>
        </p:nvSpPr>
        <p:spPr>
          <a:xfrm>
            <a:off x="3657600" y="1508760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Kanban Tabanlı Görev Yönetim Platformu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3657600" y="2011680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8F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Projesi Yönetimi – Dönem Sonu Projesi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657600" y="2240280"/>
            <a:ext cx="256032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Irmak Ceylin Gedik</a:t>
            </a:r>
            <a:r>
              <a:rPr lang="tr-TR" sz="1300" b="1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- 245611025</a:t>
            </a:r>
            <a:endParaRPr lang="en-US" sz="1300" dirty="0"/>
          </a:p>
          <a:p>
            <a:pPr marL="0" indent="0">
              <a:buNone/>
            </a:pPr>
            <a:r>
              <a:rPr lang="en-US" sz="1100" dirty="0">
                <a:solidFill>
                  <a:srgbClr val="8F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Geliştirici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300" dirty="0"/>
          </a:p>
          <a:p>
            <a:pPr marL="0" indent="0">
              <a:buNone/>
            </a:pPr>
            <a:r>
              <a:rPr lang="en-US" sz="1300" b="1" dirty="0">
                <a:solidFill>
                  <a:srgbClr val="7B5E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Nidanur Çakar</a:t>
            </a:r>
            <a:r>
              <a:rPr lang="tr-TR" sz="1300" b="1" dirty="0">
                <a:solidFill>
                  <a:srgbClr val="7B5E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-245611023</a:t>
            </a:r>
            <a:endParaRPr lang="en-US" sz="1300" dirty="0"/>
          </a:p>
          <a:p>
            <a:pPr marL="0" indent="0">
              <a:buNone/>
            </a:pPr>
            <a:r>
              <a:rPr lang="en-US" sz="1100" dirty="0">
                <a:solidFill>
                  <a:srgbClr val="8F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Geliştirici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300" dirty="0"/>
          </a:p>
          <a:p>
            <a:pPr marL="0" indent="0">
              <a:buNone/>
            </a:pPr>
            <a:r>
              <a:rPr lang="en-US" sz="1300" b="1" dirty="0">
                <a:solidFill>
                  <a:srgbClr val="F77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Şevin Yalçın</a:t>
            </a:r>
            <a:r>
              <a:rPr lang="tr-TR" sz="1300" b="1">
                <a:solidFill>
                  <a:srgbClr val="F77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- 245611033</a:t>
            </a:r>
            <a:endParaRPr lang="en-US" sz="1300" dirty="0"/>
          </a:p>
          <a:p>
            <a:pPr marL="0" indent="0">
              <a:buNone/>
            </a:pPr>
            <a:r>
              <a:rPr lang="en-US" sz="1100" dirty="0">
                <a:solidFill>
                  <a:srgbClr val="8F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 Yöneticisi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31520" y="4263390"/>
            <a:ext cx="7772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Kastamonu Üniversitesi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8F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Cide Rıfat Ilgaz MYO – Bilgisayar Teknolojileri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400800" y="265176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i="1" dirty="0">
                <a:solidFill>
                  <a:srgbClr val="8F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Öğr. Gör. Behiye CANBAZ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320040" cy="1005840"/>
          </a:xfrm>
          <a:prstGeom prst="rect">
            <a:avLst/>
          </a:prstGeom>
          <a:solidFill>
            <a:srgbClr val="1A6FC4"/>
          </a:solidFill>
          <a:ln w="12700">
            <a:solidFill>
              <a:srgbClr val="1A6FC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01  PROJE HAKKINDA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65760" y="1234440"/>
            <a:ext cx="4023360" cy="3520440"/>
          </a:xfrm>
          <a:prstGeom prst="rect">
            <a:avLst/>
          </a:prstGeom>
          <a:solidFill>
            <a:srgbClr val="FFFFFF"/>
          </a:solidFill>
          <a:ln w="19050">
            <a:solidFill>
              <a:srgbClr val="DDEE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234440"/>
            <a:ext cx="4023360" cy="457200"/>
          </a:xfrm>
          <a:prstGeom prst="rect">
            <a:avLst/>
          </a:prstGeom>
          <a:solidFill>
            <a:srgbClr val="1A6FC4"/>
          </a:solidFill>
          <a:ln w="12700">
            <a:solidFill>
              <a:srgbClr val="1A6FC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234440"/>
            <a:ext cx="4023360" cy="457200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 Projenin Amacı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7200" y="1755648"/>
            <a:ext cx="3840480" cy="2880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1A6F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Kanban metodolojisini</a:t>
            </a: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temel alan bir görev yönetim platformu geliştirmek.</a:t>
            </a: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r>
              <a:rPr lang="en-US" sz="12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Karmaşa Giderme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Dağınık görevleri tek merkezden yönet.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r>
              <a:rPr lang="en-US" sz="12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İzlenebilirlik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Yapılacak → Yapılıyor → Tamamlandı akışı.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r>
              <a:rPr lang="en-US" sz="12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Zaman Yönetimi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Görev kategorilendirmesi ile öncelik belirleme.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754880" y="1234440"/>
            <a:ext cx="4023360" cy="3520440"/>
          </a:xfrm>
          <a:prstGeom prst="rect">
            <a:avLst/>
          </a:prstGeom>
          <a:solidFill>
            <a:srgbClr val="FFFFFF"/>
          </a:solidFill>
          <a:ln w="19050">
            <a:solidFill>
              <a:srgbClr val="DDEE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54880" y="1234440"/>
            <a:ext cx="4023360" cy="4572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54880" y="1234440"/>
            <a:ext cx="4023360" cy="457200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👥  Hedef Kitle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892040" y="1828800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🎓  Öğrenciler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892040" y="2157984"/>
            <a:ext cx="3749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Ders ödev ve projelerini aşamalara bölmek isteyenler.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892040" y="2743200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💻  Yazılım Geliştiriciler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892040" y="3072384"/>
            <a:ext cx="3749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takibi yapan bireysel ve ekip geliştiriciler.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892040" y="3657600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🏢  Küçük İşletmeler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892040" y="3986784"/>
            <a:ext cx="3749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Günlük operasyonlarını dijital pano üzerinden takip edenler.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D2B55"/>
          </a:solidFill>
          <a:ln w="12700">
            <a:solidFill>
              <a:srgbClr val="0D2B5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320040" cy="100584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02  TAKIM &amp; ROLLER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74320" y="1143000"/>
            <a:ext cx="2834640" cy="3749040"/>
          </a:xfrm>
          <a:prstGeom prst="rect">
            <a:avLst/>
          </a:prstGeom>
          <a:solidFill>
            <a:srgbClr val="0D2B55"/>
          </a:solidFill>
          <a:ln w="25400">
            <a:solidFill>
              <a:srgbClr val="2EC4B6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143000"/>
            <a:ext cx="2834640" cy="73152"/>
          </a:xfrm>
          <a:prstGeom prst="rect">
            <a:avLst/>
          </a:prstGeom>
          <a:solidFill>
            <a:srgbClr val="2EC4B6"/>
          </a:solidFill>
          <a:ln w="12700">
            <a:solidFill>
              <a:srgbClr val="2EC4B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371600" y="1234440"/>
            <a:ext cx="640080" cy="640080"/>
          </a:xfrm>
          <a:prstGeom prst="ellipse">
            <a:avLst/>
          </a:prstGeom>
          <a:solidFill>
            <a:srgbClr val="2EC4B6">
              <a:alpha val="70000"/>
            </a:srgbClr>
          </a:solidFill>
          <a:ln w="12700">
            <a:solidFill>
              <a:srgbClr val="2EC4B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371600" y="12344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🎨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365760" y="196596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Irmak Ceylin Gedik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65760" y="2331720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Geliştirici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11480" y="2697480"/>
            <a:ext cx="2606040" cy="2057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AACC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UI/UX Tasarım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AACC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Kart Oluşturma &amp; Düzenleme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AACC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Sürükle-Bırak (Drag &amp; Drop)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AACC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Responsive Tasarım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AACC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Yorum Ekleme Sistemi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AACC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Grup Oluşturma &amp; Atama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291840" y="1143000"/>
            <a:ext cx="2834640" cy="3749040"/>
          </a:xfrm>
          <a:prstGeom prst="rect">
            <a:avLst/>
          </a:prstGeom>
          <a:solidFill>
            <a:srgbClr val="0D2B55"/>
          </a:solidFill>
          <a:ln w="25400">
            <a:solidFill>
              <a:srgbClr val="7B5EA7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291840" y="1143000"/>
            <a:ext cx="2834640" cy="73152"/>
          </a:xfrm>
          <a:prstGeom prst="rect">
            <a:avLst/>
          </a:prstGeom>
          <a:solidFill>
            <a:srgbClr val="7B5EA7"/>
          </a:solidFill>
          <a:ln w="12700">
            <a:solidFill>
              <a:srgbClr val="7B5EA7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389120" y="1234440"/>
            <a:ext cx="640080" cy="640080"/>
          </a:xfrm>
          <a:prstGeom prst="ellipse">
            <a:avLst/>
          </a:prstGeom>
          <a:solidFill>
            <a:srgbClr val="7B5EA7">
              <a:alpha val="70000"/>
            </a:srgbClr>
          </a:solidFill>
          <a:ln w="12700">
            <a:solidFill>
              <a:srgbClr val="7B5EA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389120" y="12344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⚙️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3383280" y="196596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Nidanur Çakar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3383280" y="2331720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7B5E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Geliştirici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3429000" y="2697480"/>
            <a:ext cx="2606040" cy="2057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AACC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Veritabanı Tasarımı (ERD)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AACC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 &amp; Register Sistemi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AACC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Dosya Yükleme Özelliği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AACC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Şifre Güvenliği (Hashleme)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AACC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Güvenlik &amp; Sistem Testleri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309360" y="1143000"/>
            <a:ext cx="2834640" cy="3749040"/>
          </a:xfrm>
          <a:prstGeom prst="rect">
            <a:avLst/>
          </a:prstGeom>
          <a:solidFill>
            <a:srgbClr val="0D2B55"/>
          </a:solidFill>
          <a:ln w="25400">
            <a:solidFill>
              <a:srgbClr val="F77F0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309360" y="1143000"/>
            <a:ext cx="2834640" cy="73152"/>
          </a:xfrm>
          <a:prstGeom prst="rect">
            <a:avLst/>
          </a:prstGeom>
          <a:solidFill>
            <a:srgbClr val="F77F00"/>
          </a:solidFill>
          <a:ln w="12700">
            <a:solidFill>
              <a:srgbClr val="F77F0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406640" y="1234440"/>
            <a:ext cx="640080" cy="640080"/>
          </a:xfrm>
          <a:prstGeom prst="ellipse">
            <a:avLst/>
          </a:prstGeom>
          <a:solidFill>
            <a:srgbClr val="F77F00">
              <a:alpha val="70000"/>
            </a:srgbClr>
          </a:solidFill>
          <a:ln w="12700">
            <a:solidFill>
              <a:srgbClr val="F77F0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406640" y="12344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📋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6400800" y="196596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Şevin Yalçın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400800" y="2331720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F77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 Yöneticisi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6446520" y="2697480"/>
            <a:ext cx="2606040" cy="2057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AACC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 Gereksinimlerinin Belirlenmesi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AACC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Kullanıcı Rolleri Tanımlama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AACC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 Analiz Dokümanı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AACC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Kullanıcı Kılavuzu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AACC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Ekip Koordinasyonu &amp; Planlama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B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64E3B"/>
          </a:solidFill>
          <a:ln w="12700">
            <a:solidFill>
              <a:srgbClr val="064E3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320040" cy="1005840"/>
          </a:xfrm>
          <a:prstGeom prst="rect">
            <a:avLst/>
          </a:prstGeom>
          <a:solidFill>
            <a:srgbClr val="2EC4B6"/>
          </a:solidFill>
          <a:ln w="12700">
            <a:solidFill>
              <a:srgbClr val="2EC4B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0"/>
            <a:ext cx="8412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03  FRONTEND GELİŞTİRİCİ – Irmak Ceylin Gedik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365760" y="1115568"/>
            <a:ext cx="5120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64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Görev Listesi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65760" y="1481328"/>
            <a:ext cx="50292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B2EAD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1481328"/>
            <a:ext cx="54864" cy="457200"/>
          </a:xfrm>
          <a:prstGeom prst="rect">
            <a:avLst/>
          </a:prstGeom>
          <a:solidFill>
            <a:srgbClr val="2EC4B6"/>
          </a:solidFill>
          <a:ln w="12700">
            <a:solidFill>
              <a:srgbClr val="2EC4B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481328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64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UI/UX Tasarım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023360" y="1481328"/>
            <a:ext cx="1280160" cy="4572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28A8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Hafta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365760" y="1993392"/>
            <a:ext cx="50292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B2EAD4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65760" y="1993392"/>
            <a:ext cx="54864" cy="457200"/>
          </a:xfrm>
          <a:prstGeom prst="rect">
            <a:avLst/>
          </a:prstGeom>
          <a:solidFill>
            <a:srgbClr val="2EC4B6"/>
          </a:solidFill>
          <a:ln w="12700">
            <a:solidFill>
              <a:srgbClr val="2EC4B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2920" y="1993392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64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Kart Oluşturma Sistemi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023360" y="1993392"/>
            <a:ext cx="1280160" cy="4572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28A8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Hafta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365760" y="2505456"/>
            <a:ext cx="50292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B2EAD4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65760" y="2505456"/>
            <a:ext cx="54864" cy="457200"/>
          </a:xfrm>
          <a:prstGeom prst="rect">
            <a:avLst/>
          </a:prstGeom>
          <a:solidFill>
            <a:srgbClr val="2EC4B6"/>
          </a:solidFill>
          <a:ln w="12700">
            <a:solidFill>
              <a:srgbClr val="2EC4B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2920" y="2505456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64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Kart Düzenleme &amp; Silme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023360" y="2505456"/>
            <a:ext cx="1280160" cy="4572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28A8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Hafta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365760" y="3017520"/>
            <a:ext cx="50292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B2EAD4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65760" y="3017520"/>
            <a:ext cx="54864" cy="457200"/>
          </a:xfrm>
          <a:prstGeom prst="rect">
            <a:avLst/>
          </a:prstGeom>
          <a:solidFill>
            <a:srgbClr val="2EC4B6"/>
          </a:solidFill>
          <a:ln w="12700">
            <a:solidFill>
              <a:srgbClr val="2EC4B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02920" y="301752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64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Sürükle-Bırak (Drag &amp; Drop)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023360" y="3017520"/>
            <a:ext cx="1280160" cy="4572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28A8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Hafta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365760" y="3529584"/>
            <a:ext cx="50292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B2EAD4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65760" y="3529584"/>
            <a:ext cx="54864" cy="457200"/>
          </a:xfrm>
          <a:prstGeom prst="rect">
            <a:avLst/>
          </a:prstGeom>
          <a:solidFill>
            <a:srgbClr val="2EC4B6"/>
          </a:solidFill>
          <a:ln w="12700">
            <a:solidFill>
              <a:srgbClr val="2EC4B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02920" y="3529584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64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Yorum Ekleme Sistemi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023360" y="3529584"/>
            <a:ext cx="1280160" cy="4572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28A8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Hafta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365760" y="4041648"/>
            <a:ext cx="50292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B2EAD4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65760" y="4041648"/>
            <a:ext cx="54864" cy="457200"/>
          </a:xfrm>
          <a:prstGeom prst="rect">
            <a:avLst/>
          </a:prstGeom>
          <a:solidFill>
            <a:srgbClr val="2EC4B6"/>
          </a:solidFill>
          <a:ln w="12700">
            <a:solidFill>
              <a:srgbClr val="2EC4B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02920" y="4041648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64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Responsive Tasarım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023360" y="4041648"/>
            <a:ext cx="1280160" cy="4572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28A8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Hafta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365760" y="4553712"/>
            <a:ext cx="50292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B2EAD4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65760" y="4553712"/>
            <a:ext cx="54864" cy="457200"/>
          </a:xfrm>
          <a:prstGeom prst="rect">
            <a:avLst/>
          </a:prstGeom>
          <a:solidFill>
            <a:srgbClr val="2EC4B6"/>
          </a:solidFill>
          <a:ln w="12700">
            <a:solidFill>
              <a:srgbClr val="2EC4B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02920" y="4553712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64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Grup Oluşturma &amp; Atama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4023360" y="4553712"/>
            <a:ext cx="1280160" cy="4572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28A8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Hafta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5669280" y="1115568"/>
            <a:ext cx="3154680" cy="1920240"/>
          </a:xfrm>
          <a:prstGeom prst="rect">
            <a:avLst/>
          </a:prstGeom>
          <a:solidFill>
            <a:srgbClr val="FFFFFF"/>
          </a:solidFill>
          <a:ln w="19050">
            <a:solidFill>
              <a:srgbClr val="B2EAD4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5760720" y="1170432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64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🛠  Teknolojiler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5760720" y="1554480"/>
            <a:ext cx="29260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HTML5 &amp; CSS3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JavaScript (ES6+)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Drag &amp; Drop API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Responsive / Flexbox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5669280" y="3200400"/>
            <a:ext cx="3154680" cy="1691640"/>
          </a:xfrm>
          <a:prstGeom prst="rect">
            <a:avLst/>
          </a:prstGeom>
          <a:solidFill>
            <a:srgbClr val="FFFFFF"/>
          </a:solidFill>
          <a:ln w="19050">
            <a:solidFill>
              <a:srgbClr val="B2EAD4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38" name="Text 36"/>
          <p:cNvSpPr/>
          <p:nvPr/>
        </p:nvSpPr>
        <p:spPr>
          <a:xfrm>
            <a:off x="5760720" y="3255264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64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RACI Matriste Rolü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5760720" y="3639312"/>
            <a:ext cx="292608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(Responsible):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Kart sistemi, Responsive, Drag&amp;Drop, Grup atama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r>
              <a:rPr lang="en-US" sz="1000" b="1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 (Consulted):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Login/Register, Gereksinim belirleme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8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5C2A00"/>
          </a:solidFill>
          <a:ln w="12700">
            <a:solidFill>
              <a:srgbClr val="5C2A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320040" cy="1005840"/>
          </a:xfrm>
          <a:prstGeom prst="rect">
            <a:avLst/>
          </a:prstGeom>
          <a:solidFill>
            <a:srgbClr val="F77F00"/>
          </a:solidFill>
          <a:ln w="12700">
            <a:solidFill>
              <a:srgbClr val="F77F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0"/>
            <a:ext cx="8412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</a:t>
            </a:r>
            <a:r>
              <a:rPr lang="tr-TR" sz="19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r>
              <a:rPr lang="en-US" sz="19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PROJE YÖNETİCİSİ – Şevin Yalçın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365760" y="1115568"/>
            <a:ext cx="5120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5C2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Görev Listesi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65760" y="1481328"/>
            <a:ext cx="50292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FFD4A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1481328"/>
            <a:ext cx="54864" cy="475488"/>
          </a:xfrm>
          <a:prstGeom prst="rect">
            <a:avLst/>
          </a:prstGeom>
          <a:solidFill>
            <a:srgbClr val="F77F00"/>
          </a:solidFill>
          <a:ln w="12700">
            <a:solidFill>
              <a:srgbClr val="F77F0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481328"/>
            <a:ext cx="3108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5C2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 Gereksinimlerinin Belirlenmesi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023360" y="1481328"/>
            <a:ext cx="1280160" cy="47548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F77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Hafta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365760" y="2011680"/>
            <a:ext cx="50292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FFD4A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65760" y="2011680"/>
            <a:ext cx="54864" cy="475488"/>
          </a:xfrm>
          <a:prstGeom prst="rect">
            <a:avLst/>
          </a:prstGeom>
          <a:solidFill>
            <a:srgbClr val="F77F00"/>
          </a:solidFill>
          <a:ln w="12700">
            <a:solidFill>
              <a:srgbClr val="F77F0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2920" y="2011680"/>
            <a:ext cx="3108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5C2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Kullanıcı Rolleri Belirleme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023360" y="2011680"/>
            <a:ext cx="1280160" cy="47548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F77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Hafta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365760" y="2542032"/>
            <a:ext cx="50292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FFD4A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65760" y="2542032"/>
            <a:ext cx="54864" cy="475488"/>
          </a:xfrm>
          <a:prstGeom prst="rect">
            <a:avLst/>
          </a:prstGeom>
          <a:solidFill>
            <a:srgbClr val="F77F00"/>
          </a:solidFill>
          <a:ln w="12700">
            <a:solidFill>
              <a:srgbClr val="F77F0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2920" y="2542032"/>
            <a:ext cx="3108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5C2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 Analiz Dokümanı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023360" y="2542032"/>
            <a:ext cx="1280160" cy="47548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F77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Hafta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365760" y="3072384"/>
            <a:ext cx="50292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FFD4A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65760" y="3072384"/>
            <a:ext cx="54864" cy="475488"/>
          </a:xfrm>
          <a:prstGeom prst="rect">
            <a:avLst/>
          </a:prstGeom>
          <a:solidFill>
            <a:srgbClr val="F77F00"/>
          </a:solidFill>
          <a:ln w="12700">
            <a:solidFill>
              <a:srgbClr val="F77F0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02920" y="3072384"/>
            <a:ext cx="3108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5C2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Kullanıcı Kılavuzu Hazırlama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023360" y="3072384"/>
            <a:ext cx="1280160" cy="47548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F77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Hafta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365760" y="3602736"/>
            <a:ext cx="50292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FFD4A8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65760" y="3602736"/>
            <a:ext cx="54864" cy="475488"/>
          </a:xfrm>
          <a:prstGeom prst="rect">
            <a:avLst/>
          </a:prstGeom>
          <a:solidFill>
            <a:srgbClr val="F77F00"/>
          </a:solidFill>
          <a:ln w="12700">
            <a:solidFill>
              <a:srgbClr val="F77F0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02920" y="3602736"/>
            <a:ext cx="3108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5C2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Trello ile Proje Takibi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023360" y="3602736"/>
            <a:ext cx="1280160" cy="47548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F77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Tüm Proje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365760" y="4133088"/>
            <a:ext cx="50292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FFD4A8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65760" y="4133088"/>
            <a:ext cx="54864" cy="475488"/>
          </a:xfrm>
          <a:prstGeom prst="rect">
            <a:avLst/>
          </a:prstGeom>
          <a:solidFill>
            <a:srgbClr val="F77F00"/>
          </a:solidFill>
          <a:ln w="12700">
            <a:solidFill>
              <a:srgbClr val="F77F0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02920" y="4133088"/>
            <a:ext cx="3108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5C2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Ekip Koordinasyonu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4023360" y="4133088"/>
            <a:ext cx="1280160" cy="47548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F77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Tüm Proje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5669280" y="1115568"/>
            <a:ext cx="3154680" cy="3749040"/>
          </a:xfrm>
          <a:prstGeom prst="rect">
            <a:avLst/>
          </a:prstGeom>
          <a:solidFill>
            <a:srgbClr val="FFFFFF"/>
          </a:solidFill>
          <a:ln w="19050">
            <a:solidFill>
              <a:srgbClr val="FFD4A8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5760720" y="1170432"/>
            <a:ext cx="29260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5C2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📌  Belirlenen Gereksinimler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5760720" y="1591056"/>
            <a:ext cx="2926080" cy="3063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F77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Fonksiyonel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Kullanıcı kayıt &amp; giriş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Pano/Liste/Kart Yönetimi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Dosya Yükleme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Sürükle-Bırak Arayüz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Üye Atama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r>
              <a:rPr lang="en-US" sz="1000" b="1" dirty="0">
                <a:solidFill>
                  <a:srgbClr val="F77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Fonksiyonel Olmayan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Kullanılabilirlik (UX)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Performans (hızlı sorgu)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Güvenlik (şifre güvenli saklama)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0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2D1B5E"/>
          </a:solidFill>
          <a:ln w="12700">
            <a:solidFill>
              <a:srgbClr val="2D1B5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320040" cy="1005840"/>
          </a:xfrm>
          <a:prstGeom prst="rect">
            <a:avLst/>
          </a:prstGeom>
          <a:solidFill>
            <a:srgbClr val="7B5EA7"/>
          </a:solidFill>
          <a:ln w="12700">
            <a:solidFill>
              <a:srgbClr val="7B5EA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0"/>
            <a:ext cx="8412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</a:t>
            </a:r>
            <a:r>
              <a:rPr lang="tr-TR" sz="19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</a:t>
            </a:r>
            <a:r>
              <a:rPr lang="en-US" sz="19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BACKEND GELİŞTİRİCİ – Nidanur Çakar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365760" y="1115568"/>
            <a:ext cx="5120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D1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Görev Listesi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65760" y="1481328"/>
            <a:ext cx="50292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4C5F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1481328"/>
            <a:ext cx="54864" cy="457200"/>
          </a:xfrm>
          <a:prstGeom prst="rect">
            <a:avLst/>
          </a:prstGeom>
          <a:solidFill>
            <a:srgbClr val="7B5EA7"/>
          </a:solidFill>
          <a:ln w="12700">
            <a:solidFill>
              <a:srgbClr val="7B5EA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481328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D1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Veritabanı Tasarımı (ERD)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023360" y="1481328"/>
            <a:ext cx="1280160" cy="4572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B5E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Hafta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365760" y="1993392"/>
            <a:ext cx="50292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4C5F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65760" y="1993392"/>
            <a:ext cx="54864" cy="457200"/>
          </a:xfrm>
          <a:prstGeom prst="rect">
            <a:avLst/>
          </a:prstGeom>
          <a:solidFill>
            <a:srgbClr val="7B5EA7"/>
          </a:solidFill>
          <a:ln w="12700">
            <a:solidFill>
              <a:srgbClr val="7B5EA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2920" y="1993392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D1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 &amp; Register Sistemi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023360" y="1993392"/>
            <a:ext cx="1280160" cy="4572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B5E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Hafta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365760" y="2505456"/>
            <a:ext cx="50292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4C5F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65760" y="2505456"/>
            <a:ext cx="54864" cy="457200"/>
          </a:xfrm>
          <a:prstGeom prst="rect">
            <a:avLst/>
          </a:prstGeom>
          <a:solidFill>
            <a:srgbClr val="7B5EA7"/>
          </a:solidFill>
          <a:ln w="12700">
            <a:solidFill>
              <a:srgbClr val="7B5EA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2920" y="2505456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D1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Dosya Yükleme Özelliği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023360" y="2505456"/>
            <a:ext cx="1280160" cy="4572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B5E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Hafta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365760" y="3017520"/>
            <a:ext cx="50292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4C5F5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65760" y="3017520"/>
            <a:ext cx="54864" cy="457200"/>
          </a:xfrm>
          <a:prstGeom prst="rect">
            <a:avLst/>
          </a:prstGeom>
          <a:solidFill>
            <a:srgbClr val="7B5EA7"/>
          </a:solidFill>
          <a:ln w="12700">
            <a:solidFill>
              <a:srgbClr val="7B5EA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02920" y="301752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D1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Güvenlik Testleri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023360" y="3017520"/>
            <a:ext cx="1280160" cy="4572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B5E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Hafta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365760" y="3529584"/>
            <a:ext cx="50292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4C5F5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65760" y="3529584"/>
            <a:ext cx="54864" cy="457200"/>
          </a:xfrm>
          <a:prstGeom prst="rect">
            <a:avLst/>
          </a:prstGeom>
          <a:solidFill>
            <a:srgbClr val="7B5EA7"/>
          </a:solidFill>
          <a:ln w="12700">
            <a:solidFill>
              <a:srgbClr val="7B5EA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02920" y="3529584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D1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 Testi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023360" y="3529584"/>
            <a:ext cx="1280160" cy="4572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B5E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Hafta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365760" y="4041648"/>
            <a:ext cx="50292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4C5F5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65760" y="4041648"/>
            <a:ext cx="54864" cy="457200"/>
          </a:xfrm>
          <a:prstGeom prst="rect">
            <a:avLst/>
          </a:prstGeom>
          <a:solidFill>
            <a:srgbClr val="7B5EA7"/>
          </a:solidFill>
          <a:ln w="12700">
            <a:solidFill>
              <a:srgbClr val="7B5EA7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02920" y="4041648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D1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Şifre Güvenliği (Hashleme)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023360" y="4041648"/>
            <a:ext cx="1280160" cy="4572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B5E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Hafta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5669280" y="1115568"/>
            <a:ext cx="3154680" cy="2148840"/>
          </a:xfrm>
          <a:prstGeom prst="rect">
            <a:avLst/>
          </a:prstGeom>
          <a:solidFill>
            <a:srgbClr val="FFFFFF"/>
          </a:solidFill>
          <a:ln w="19050">
            <a:solidFill>
              <a:srgbClr val="D4C5F5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5760720" y="1170432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D1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🛠  Teknolojiler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5760720" y="1554480"/>
            <a:ext cx="292608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PHP 8 (OOP)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 &amp; PDO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&amp; Auth Yönetimi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Password Hashing (bcrypt)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API Tasarımı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5669280" y="3383280"/>
            <a:ext cx="3154680" cy="1508760"/>
          </a:xfrm>
          <a:prstGeom prst="rect">
            <a:avLst/>
          </a:prstGeom>
          <a:solidFill>
            <a:srgbClr val="FFFFFF"/>
          </a:solidFill>
          <a:ln w="19050">
            <a:solidFill>
              <a:srgbClr val="D4C5F5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5760720" y="3438144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D1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🗄  Veritabanı Tabloları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5760720" y="3822192"/>
            <a:ext cx="29260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users, boards, lists, cards, comments, files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320040" cy="9144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06  RACI MATRİSİ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65760" y="987552"/>
            <a:ext cx="274320" cy="256032"/>
          </a:xfrm>
          <a:prstGeom prst="rect">
            <a:avLst/>
          </a:prstGeom>
          <a:solidFill>
            <a:srgbClr val="2EC4B6"/>
          </a:solidFill>
          <a:ln w="12700">
            <a:solidFill>
              <a:srgbClr val="2EC4B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987552"/>
            <a:ext cx="274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R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667512" y="987552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Responsible – </a:t>
            </a:r>
            <a:r>
              <a:rPr lang="en-US" sz="900" dirty="0" err="1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İşi</a:t>
            </a: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900" dirty="0" err="1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yapan</a:t>
            </a:r>
            <a:r>
              <a:rPr lang="tr-TR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(Şevin)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468880" y="987552"/>
            <a:ext cx="274320" cy="256032"/>
          </a:xfrm>
          <a:prstGeom prst="rect">
            <a:avLst/>
          </a:prstGeom>
          <a:solidFill>
            <a:srgbClr val="F77F00"/>
          </a:solidFill>
          <a:ln w="12700">
            <a:solidFill>
              <a:srgbClr val="F77F0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468880" y="987552"/>
            <a:ext cx="274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A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2770632" y="987552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Accountable – Onay </a:t>
            </a:r>
            <a:r>
              <a:rPr lang="en-US" sz="900" dirty="0" err="1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veren</a:t>
            </a:r>
            <a:r>
              <a:rPr lang="tr-TR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(Şevin)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572000" y="987552"/>
            <a:ext cx="274320" cy="256032"/>
          </a:xfrm>
          <a:prstGeom prst="rect">
            <a:avLst/>
          </a:prstGeom>
          <a:solidFill>
            <a:srgbClr val="1A6FC4"/>
          </a:solidFill>
          <a:ln w="12700">
            <a:solidFill>
              <a:srgbClr val="1A6FC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0" y="987552"/>
            <a:ext cx="274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C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4873752" y="987552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Consulted – </a:t>
            </a:r>
            <a:r>
              <a:rPr lang="en-US" sz="900" dirty="0" err="1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Danışılan</a:t>
            </a:r>
            <a:r>
              <a:rPr lang="tr-TR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(Nidanur)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6675120" y="987552"/>
            <a:ext cx="274320" cy="256032"/>
          </a:xfrm>
          <a:prstGeom prst="rect">
            <a:avLst/>
          </a:prstGeom>
          <a:solidFill>
            <a:srgbClr val="8FA8C0"/>
          </a:solidFill>
          <a:ln w="12700">
            <a:solidFill>
              <a:srgbClr val="8FA8C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675120" y="987552"/>
            <a:ext cx="274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I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6976872" y="987552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Informed – Bilgi </a:t>
            </a:r>
            <a:r>
              <a:rPr lang="en-US" sz="900" dirty="0" err="1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verilen</a:t>
            </a:r>
            <a:r>
              <a:rPr lang="tr-TR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(Irmak)</a:t>
            </a:r>
            <a:endParaRPr lang="en-US" sz="9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298448"/>
          <a:ext cx="8412480" cy="3657602"/>
        </p:xfrm>
        <a:graphic>
          <a:graphicData uri="http://schemas.openxmlformats.org/drawingml/2006/table">
            <a:tbl>
              <a:tblPr/>
              <a:tblGrid>
                <a:gridCol w="3657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8135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Görev</a:t>
                      </a:r>
                      <a:endParaRPr lang="en-US" sz="10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DA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A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A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A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R</a:t>
                      </a:r>
                      <a:endParaRPr lang="en-US" sz="10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DA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A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A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A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A</a:t>
                      </a:r>
                      <a:endParaRPr lang="en-US" sz="10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DA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A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A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A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C</a:t>
                      </a:r>
                      <a:endParaRPr lang="en-US" sz="10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DA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A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A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A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I</a:t>
                      </a:r>
                      <a:endParaRPr lang="en-US" sz="10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DA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A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A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A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135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Proje Gereksinimlerinin Belirlenmesi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DA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A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A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A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DA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A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A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A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DA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A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A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A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FE, BE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DA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A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A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A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Ekip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DA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A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A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A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135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Sistem Analiz Dokümanı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DA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A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A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A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DA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A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A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A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DA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A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A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A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DA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A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A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A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Ekip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DA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A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A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A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135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Veritabanı Tasarımı (ERD)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DA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A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A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A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DB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DA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A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A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A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DA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A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A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A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DA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A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A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A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DA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A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A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A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135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Kullanıcı Rolleri Belirleme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DA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A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A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A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DA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A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A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A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DA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A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A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A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DA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A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A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A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DA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A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A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A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8135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UI/UX Tasarım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DA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A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A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A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UI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DA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A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A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A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DA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A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A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A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DA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A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A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A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Ekip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DA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A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A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A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8135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Login &amp; Register Sistemi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DA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A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A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A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DA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A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A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A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DA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A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A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A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DB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DA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A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A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A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DA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A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A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A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8135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Şifre Güvenliği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DA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A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A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A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DA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A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A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A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DA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A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A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A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DB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DA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A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A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A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QA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DA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A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A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A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8135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Kart Sistemi (CRUD)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DA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A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A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A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DA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A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A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A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DA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A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A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A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DA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A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A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A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QA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DA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A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A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A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8135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Drag &amp; Drop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DA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A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A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A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DA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A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A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A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DA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A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A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A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DA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A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A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A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QA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DA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A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A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A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8135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Dosya Yükleme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DA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A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A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A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DA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A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A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A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DA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A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A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A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DB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DA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A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A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A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QA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DA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A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A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A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8135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Responsive Tasarım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DA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A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A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A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DA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A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A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A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DA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A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A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A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UI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DA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A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A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A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QA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DA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A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A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A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8135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Güvenlik &amp; Sistem Testleri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DA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A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A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A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QA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DA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A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A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A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DA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A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A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A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DA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A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A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A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Ekip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DA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A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A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A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2B55"/>
          </a:solidFill>
          <a:ln w="12700">
            <a:solidFill>
              <a:srgbClr val="0D2B5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320040" cy="9144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07  PROJE TAKVİMİ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560320" y="1188720"/>
            <a:ext cx="786384" cy="36576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560320" y="1188720"/>
            <a:ext cx="7863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Hafta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3383280" y="1188720"/>
            <a:ext cx="786384" cy="36576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383280" y="1188720"/>
            <a:ext cx="7863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Hafta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4206240" y="1188720"/>
            <a:ext cx="786384" cy="36576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206240" y="1188720"/>
            <a:ext cx="7863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Hafta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5029200" y="1188720"/>
            <a:ext cx="786384" cy="36576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29200" y="1188720"/>
            <a:ext cx="7863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Hafta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5852160" y="1188720"/>
            <a:ext cx="786384" cy="36576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852160" y="1188720"/>
            <a:ext cx="7863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Hafta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6675120" y="1188720"/>
            <a:ext cx="786384" cy="36576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675120" y="1188720"/>
            <a:ext cx="7863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Hafta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7498080" y="1188720"/>
            <a:ext cx="786384" cy="36576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498080" y="1188720"/>
            <a:ext cx="7863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Hafta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274320" y="164592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Tasarım (Frontend)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2560320" y="1645920"/>
            <a:ext cx="5724144" cy="50292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560320" y="1719072"/>
            <a:ext cx="2414016" cy="356616"/>
          </a:xfrm>
          <a:prstGeom prst="rect">
            <a:avLst/>
          </a:prstGeom>
          <a:solidFill>
            <a:srgbClr val="2EC4B6"/>
          </a:solidFill>
          <a:ln w="12700">
            <a:solidFill>
              <a:srgbClr val="2EC4B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560320" y="1719072"/>
            <a:ext cx="2414016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hafta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274320" y="2404872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Kodlama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2560320" y="2404872"/>
            <a:ext cx="5724144" cy="50292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029200" y="2478024"/>
            <a:ext cx="3236976" cy="356616"/>
          </a:xfrm>
          <a:prstGeom prst="rect">
            <a:avLst/>
          </a:prstGeom>
          <a:solidFill>
            <a:srgbClr val="7B5EA7"/>
          </a:solidFill>
          <a:ln w="12700">
            <a:solidFill>
              <a:srgbClr val="7B5EA7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029200" y="2478024"/>
            <a:ext cx="3236976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hafta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274320" y="3163824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Analiz &amp; PM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560320" y="3163824"/>
            <a:ext cx="5724144" cy="50292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2560320" y="3236976"/>
            <a:ext cx="4059936" cy="356616"/>
          </a:xfrm>
          <a:prstGeom prst="rect">
            <a:avLst/>
          </a:prstGeom>
          <a:solidFill>
            <a:srgbClr val="F77F00"/>
          </a:solidFill>
          <a:ln w="12700">
            <a:solidFill>
              <a:srgbClr val="F77F0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560320" y="3236976"/>
            <a:ext cx="4059936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hafta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365760" y="4206240"/>
            <a:ext cx="8412480" cy="685800"/>
          </a:xfrm>
          <a:prstGeom prst="rect">
            <a:avLst/>
          </a:prstGeom>
          <a:solidFill>
            <a:srgbClr val="1A3A5C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65760" y="4206240"/>
            <a:ext cx="8412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8F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 Toplam Süresi: </a:t>
            </a:r>
            <a:r>
              <a:rPr lang="en-US" sz="13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Hafta  </a:t>
            </a:r>
            <a:r>
              <a:rPr lang="en-US" sz="1300" dirty="0">
                <a:solidFill>
                  <a:srgbClr val="8F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|  Başlangıç: </a:t>
            </a: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Mart 2026  </a:t>
            </a:r>
            <a:r>
              <a:rPr lang="en-US" sz="1300" dirty="0">
                <a:solidFill>
                  <a:srgbClr val="8F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|  Bitiş: </a:t>
            </a: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 Nisan 2026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320040" cy="914400"/>
          </a:xfrm>
          <a:prstGeom prst="rect">
            <a:avLst/>
          </a:prstGeom>
          <a:solidFill>
            <a:srgbClr val="1A6FC4"/>
          </a:solidFill>
          <a:ln w="12700">
            <a:solidFill>
              <a:srgbClr val="1A6FC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08  TEKNİK MİMARİ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74320" y="1051560"/>
            <a:ext cx="2834640" cy="3886200"/>
          </a:xfrm>
          <a:prstGeom prst="rect">
            <a:avLst/>
          </a:prstGeom>
          <a:solidFill>
            <a:srgbClr val="FFFFFF"/>
          </a:solidFill>
          <a:ln w="19050">
            <a:solidFill>
              <a:srgbClr val="DDEE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051560"/>
            <a:ext cx="2834640" cy="502920"/>
          </a:xfrm>
          <a:prstGeom prst="rect">
            <a:avLst/>
          </a:prstGeom>
          <a:solidFill>
            <a:srgbClr val="2EC4B6"/>
          </a:solidFill>
          <a:ln w="12700">
            <a:solidFill>
              <a:srgbClr val="2EC4B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47472" y="1051560"/>
            <a:ext cx="26883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🖥  Sunum Katmanı (Frontend)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84048" y="1645920"/>
            <a:ext cx="260604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HTML5 / CSS3 / JavaScript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Drag &amp; Drop API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Responsive Layout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Dark Mode Toggle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91840" y="1051560"/>
            <a:ext cx="2834640" cy="3886200"/>
          </a:xfrm>
          <a:prstGeom prst="rect">
            <a:avLst/>
          </a:prstGeom>
          <a:solidFill>
            <a:srgbClr val="FFFFFF"/>
          </a:solidFill>
          <a:ln w="19050">
            <a:solidFill>
              <a:srgbClr val="DDEE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91840" y="1051560"/>
            <a:ext cx="2834640" cy="502920"/>
          </a:xfrm>
          <a:prstGeom prst="rect">
            <a:avLst/>
          </a:prstGeom>
          <a:solidFill>
            <a:srgbClr val="7B5EA7"/>
          </a:solidFill>
          <a:ln w="12700">
            <a:solidFill>
              <a:srgbClr val="7B5EA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364992" y="1051560"/>
            <a:ext cx="26883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⚙️  Uygulama Katmanı (Backend)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401568" y="1645920"/>
            <a:ext cx="260604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PHP 8 (OOP)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auth_login.php / auth_register.php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Yönetimi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REST-like API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309360" y="1051560"/>
            <a:ext cx="2834640" cy="3886200"/>
          </a:xfrm>
          <a:prstGeom prst="rect">
            <a:avLst/>
          </a:prstGeom>
          <a:solidFill>
            <a:srgbClr val="FFFFFF"/>
          </a:solidFill>
          <a:ln w="19050">
            <a:solidFill>
              <a:srgbClr val="DDEE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309360" y="1051560"/>
            <a:ext cx="2834640" cy="502920"/>
          </a:xfrm>
          <a:prstGeom prst="rect">
            <a:avLst/>
          </a:prstGeom>
          <a:solidFill>
            <a:srgbClr val="1A6FC4"/>
          </a:solidFill>
          <a:ln w="12700">
            <a:solidFill>
              <a:srgbClr val="1A6FC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382512" y="1051560"/>
            <a:ext cx="26883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🗄  Veri Katmanı (Database)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419088" y="1645920"/>
            <a:ext cx="260604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 Veritabanı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PDO ile Güvenli Bağlantı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ERD: users, boards, lists, cards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bcrypt Şifre Güvenliği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91220"/>
          </a:solidFill>
          <a:ln w="12700">
            <a:solidFill>
              <a:srgbClr val="0912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1A6FC4"/>
          </a:solidFill>
          <a:ln w="12700">
            <a:solidFill>
              <a:srgbClr val="1A6FC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45720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kern="0" spc="3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SONUÇ &amp; DEĞERLENDİRME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548640" y="1280160"/>
            <a:ext cx="2560320" cy="2377440"/>
          </a:xfrm>
          <a:prstGeom prst="rect">
            <a:avLst/>
          </a:prstGeom>
          <a:solidFill>
            <a:srgbClr val="0D2B55"/>
          </a:solidFill>
          <a:ln w="25400">
            <a:solidFill>
              <a:srgbClr val="2EC4B6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48640" y="137160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🎨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548640" y="201168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EC4B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Frontend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48640" y="242316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F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Irmak Gedik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48640" y="2816352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görev tamamlandı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383280" y="1280160"/>
            <a:ext cx="2560320" cy="2377440"/>
          </a:xfrm>
          <a:prstGeom prst="rect">
            <a:avLst/>
          </a:prstGeom>
          <a:solidFill>
            <a:srgbClr val="0D2B55"/>
          </a:solidFill>
          <a:ln w="25400">
            <a:solidFill>
              <a:srgbClr val="7B5EA7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383280" y="137160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⚙️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3383280" y="201168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7B5EA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Backend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3383280" y="242316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F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Nidanur Çakar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383280" y="2816352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görev tamamlandı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217920" y="1280160"/>
            <a:ext cx="2560320" cy="2377440"/>
          </a:xfrm>
          <a:prstGeom prst="rect">
            <a:avLst/>
          </a:prstGeom>
          <a:solidFill>
            <a:srgbClr val="0D2B55"/>
          </a:solidFill>
          <a:ln w="25400">
            <a:solidFill>
              <a:srgbClr val="F77F0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217920" y="137160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📋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6217920" y="201168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77F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Proje Yönetimi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217920" y="242316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F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Şevin Yalçın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217920" y="2816352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görev tamamlandı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731520" y="3794760"/>
            <a:ext cx="7680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8F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Kanban metodolojisi ile geliştirilen Threello Pro,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i="1" dirty="0">
                <a:solidFill>
                  <a:srgbClr val="8F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trello benzeri güçlü bir görev yönetim platformu olarak hayata geçirildi.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731520" y="4526280"/>
            <a:ext cx="7680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GitHub: https://github.com/NidanurKrhll/Threello-Pro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eması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800</Words>
  <Application>Microsoft Office PowerPoint</Application>
  <PresentationFormat>Ekran Gösterisi (16:9)</PresentationFormat>
  <Paragraphs>260</Paragraphs>
  <Slides>10</Slides>
  <Notes>10</Notes>
  <HiddenSlides>0</HiddenSlides>
  <MMClips>0</MMClips>
  <ScaleCrop>false</ScaleCrop>
  <HeadingPairs>
    <vt:vector size="6" baseType="variant">
      <vt:variant>
        <vt:lpstr>Kullanılan Yazı Tipleri</vt:lpstr>
      </vt:variant>
      <vt:variant>
        <vt:i4>3</vt:i4>
      </vt:variant>
      <vt:variant>
        <vt:lpstr>Tema</vt:lpstr>
      </vt:variant>
      <vt:variant>
        <vt:i4>1</vt:i4>
      </vt:variant>
      <vt:variant>
        <vt:lpstr>Slayt Başlıkları</vt:lpstr>
      </vt:variant>
      <vt:variant>
        <vt:i4>10</vt:i4>
      </vt:variant>
    </vt:vector>
  </HeadingPairs>
  <TitlesOfParts>
    <vt:vector size="14" baseType="lpstr">
      <vt:lpstr>Arial</vt:lpstr>
      <vt:lpstr>Calibri</vt:lpstr>
      <vt:lpstr>Trebuchet MS</vt:lpstr>
      <vt:lpstr>Office Theme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Threello Pro - Proje Sunumu</dc:title>
  <dc:subject>PptxGenJS Presentation</dc:subject>
  <dc:creator>PptxGenJS</dc:creator>
  <cp:lastModifiedBy>NIDANUR KARAHALIL-245611023</cp:lastModifiedBy>
  <cp:revision>3</cp:revision>
  <dcterms:created xsi:type="dcterms:W3CDTF">2026-05-06T10:48:11Z</dcterms:created>
  <dcterms:modified xsi:type="dcterms:W3CDTF">2026-05-06T10:55:09Z</dcterms:modified>
</cp:coreProperties>
</file>